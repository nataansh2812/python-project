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1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244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217920" y="73152"/>
            <a:ext cx="2926080" cy="5070348"/>
          </a:xfrm>
          <a:prstGeom prst="rect">
            <a:avLst/>
          </a:prstGeom>
          <a:solidFill>
            <a:srgbClr val="1A3F73"/>
          </a:solidFill>
          <a:ln w="12700">
            <a:solidFill>
              <a:srgbClr val="1A3F73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2194560" cy="2194560"/>
          </a:xfrm>
          <a:prstGeom prst="ellipse">
            <a:avLst/>
          </a:prstGeom>
          <a:solidFill>
            <a:srgbClr val="0E7490">
              <a:alpha val="30000"/>
            </a:srgbClr>
          </a:solidFill>
          <a:ln w="12700">
            <a:solidFill>
              <a:srgbClr val="0EA5C7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005840"/>
            <a:ext cx="1097280" cy="1097280"/>
          </a:xfrm>
          <a:prstGeom prst="ellipse">
            <a:avLst/>
          </a:prstGeom>
          <a:solidFill>
            <a:srgbClr val="0EA5C7">
              <a:alpha val="4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20040"/>
            <a:ext cx="347472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3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Programming With Python (202044504)</a:t>
            </a:r>
            <a:endParaRPr lang="en-IN" sz="1300" dirty="0">
              <a:solidFill>
                <a:schemeClr val="accent5">
                  <a:lumMod val="20000"/>
                  <a:lumOff val="8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20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Navigation System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E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 &amp; Obstacle Avoidance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85534"/>
            <a:ext cx="5029200" cy="914400"/>
          </a:xfrm>
          <a:prstGeom prst="rect">
            <a:avLst/>
          </a:prstGeom>
          <a:solidFill>
            <a:srgbClr val="0A1F3D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5029200" cy="92638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A5C7"/>
                </a:solidFill>
              </a:rPr>
              <a:t>Presented by: 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Riya Patel (12402120601067)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Nataansh Kayasth (12402120601054)</a:t>
            </a:r>
          </a:p>
        </p:txBody>
      </p:sp>
      <p:sp>
        <p:nvSpPr>
          <p:cNvPr id="16" name="Shape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Objective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Develop an AI-based path planning and obstacle avoidance system for autonomous robots or simulated environments using Python.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11680"/>
            <a:ext cx="2651760" cy="384048"/>
          </a:xfrm>
          <a:prstGeom prst="rect">
            <a:avLst/>
          </a:prstGeom>
          <a:solidFill>
            <a:srgbClr val="1A3F73"/>
          </a:solidFill>
          <a:ln w="12700">
            <a:solidFill>
              <a:srgbClr val="1A3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2B55"/>
                </a:solidFill>
              </a:rPr>
              <a:t>Robots need to navigate environments autonomously — reaching goals while avoiding obstacles in real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01168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011680"/>
            <a:ext cx="2651760" cy="384048"/>
          </a:xfrm>
          <a:prstGeom prst="rect">
            <a:avLst/>
          </a:prstGeom>
          <a:solidFill>
            <a:srgbClr val="1A3F73"/>
          </a:solidFill>
          <a:ln w="12700">
            <a:solidFill>
              <a:srgbClr val="1A3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011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Approach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2B55"/>
                </a:solidFill>
              </a:rPr>
              <a:t>Combine classical graph-search algorithms (A*, Dijkstra, RRT) with reinforcement learning for adaptive decisions.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01168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011680"/>
            <a:ext cx="2651760" cy="384048"/>
          </a:xfrm>
          <a:prstGeom prst="rect">
            <a:avLst/>
          </a:prstGeom>
          <a:solidFill>
            <a:srgbClr val="1A3F73"/>
          </a:solidFill>
          <a:ln w="12700">
            <a:solidFill>
              <a:srgbClr val="1A3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011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Outcome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5146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2B55"/>
                </a:solidFill>
              </a:rPr>
              <a:t>A simulated environment with visualised paths, performance metrics, and multiple scenario support.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658368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23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Perception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1978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E8EF"/>
                </a:solidFill>
              </a:rPr>
              <a:t>Sensor input · grid map generation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527048"/>
            <a:ext cx="5486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73352"/>
            <a:ext cx="6583680" cy="658368"/>
          </a:xfrm>
          <a:prstGeom prst="rect">
            <a:avLst/>
          </a:prstGeom>
          <a:solidFill>
            <a:srgbClr val="1A3F73"/>
          </a:solidFill>
          <a:ln w="12700">
            <a:solidFill>
              <a:srgbClr val="1A3F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728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Localisation &amp; Mapping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0025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E8EF"/>
                </a:solidFill>
              </a:rPr>
              <a:t>Position tracking · environment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331720"/>
            <a:ext cx="5486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78024"/>
            <a:ext cx="658368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532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Path Planning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8072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E8EF"/>
                </a:solidFill>
              </a:rPr>
              <a:t>A* / Dijkstra / RRT algorithms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136392"/>
            <a:ext cx="5486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82696"/>
            <a:ext cx="658368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Obstacle Avoidance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E8EF"/>
                </a:solidFill>
              </a:rPr>
              <a:t>Dynamic re-routing · collision detection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941064"/>
            <a:ext cx="5486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87368"/>
            <a:ext cx="658368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4165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E8EF"/>
                </a:solidFill>
              </a:rPr>
              <a:t>Actuator commands · movement execution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Planning: A* &amp; Dijkstra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457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A* Algorithm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B55"/>
                </a:solidFill>
              </a:rPr>
              <a:t>Uses heuristic function: </a:t>
            </a:r>
            <a:r>
              <a:rPr lang="en-US" sz="1200" b="1" dirty="0">
                <a:solidFill>
                  <a:srgbClr val="0E7490"/>
                </a:solidFill>
              </a:rPr>
              <a:t>f(n) = g(n) + h(n)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D2B55"/>
                </a:solidFill>
              </a:rPr>
              <a:t>g(n) = cost from start to node 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D2B55"/>
                </a:solidFill>
              </a:rPr>
              <a:t>h(n) = estimated cost to goal (heuristic)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D2B55"/>
                </a:solidFill>
              </a:rPr>
              <a:t>Explores nodes with lowest f(n) first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D2B55"/>
                </a:solidFill>
              </a:rPr>
              <a:t>Guarantees shortest path if h(n) is admissible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D2B55"/>
                </a:solidFill>
              </a:rPr>
              <a:t>Uses priority queue (min-heap)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4023360" cy="457200"/>
          </a:xfrm>
          <a:prstGeom prst="rect">
            <a:avLst/>
          </a:prstGeom>
          <a:solidFill>
            <a:srgbClr val="1A3F73"/>
          </a:solidFill>
          <a:ln w="12700">
            <a:solidFill>
              <a:srgbClr val="1A3F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22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Dijkstra's Algorithm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B55"/>
                </a:solidFill>
              </a:rPr>
              <a:t>Explores all paths uniformly: </a:t>
            </a:r>
            <a:r>
              <a:rPr lang="en-US" sz="1200" b="1" dirty="0">
                <a:solidFill>
                  <a:srgbClr val="0E7490"/>
                </a:solidFill>
              </a:rPr>
              <a:t>f(n) = g(n)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D2B55"/>
                </a:solidFill>
              </a:rPr>
              <a:t>No heuristic — explores all directions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D2B55"/>
                </a:solidFill>
              </a:rPr>
              <a:t>Guarantees optimal shortest path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D2B55"/>
                </a:solidFill>
              </a:rPr>
              <a:t>Works on weighted and unweighted graphs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D2B55"/>
                </a:solidFill>
              </a:rPr>
              <a:t>Higher time complexity than A* in large grids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D2B55"/>
                </a:solidFill>
              </a:rPr>
              <a:t>Suitable for static environments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581144"/>
            <a:ext cx="8412480" cy="292608"/>
          </a:xfrm>
          <a:prstGeom prst="rect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457200" y="457452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B55"/>
                </a:solidFill>
              </a:rPr>
              <a:t>A* vs Dijkstra — A* is faster due to heuristic guidance; Dijkstra explores thoroughly but is simpler to implement.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Planning: RRT (Rapidly-exploring Random Tree)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59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What is RRT?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RRT incrementally builds a tree by randomly sampling the configuration space and extending toward samples. Ideal for high-dimensional and continuous environments.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47672"/>
            <a:ext cx="493776" cy="49377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Initialise tree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1671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Place root node at start position.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07792"/>
            <a:ext cx="493776" cy="49377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Random sample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127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Pick a random point in free space.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67912"/>
            <a:ext cx="493776" cy="49377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67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Find nearest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4087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Locate nearest tree node to the sample.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7830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947672"/>
            <a:ext cx="493776" cy="49377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9476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Extend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21671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Grow tree toward sample by step size Δ.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907792"/>
            <a:ext cx="493776" cy="49377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Collision check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3127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Discard extension if it hits an obstacle.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7033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867912"/>
            <a:ext cx="493776" cy="49377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867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Goal check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4087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Stop when tree reaches goal region.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663440"/>
            <a:ext cx="84124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RRT Advantage: handles complex, high-dimensional spaces and non-convex obstacles better than grid-based methods.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Obstacle Detection &amp; Avoidance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43891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Detection Methods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89888"/>
            <a:ext cx="54864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08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Grid-based sensing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Robot scans adjacent cells; obstacles flagged as blocked nodes in the occupancy grid.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54864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212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Collision prediction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Trajectory simulated ahead in time; potential collisions identified before movement.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99232"/>
            <a:ext cx="54864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Bounding box 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273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Object extents compared against planned path segments.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803904"/>
            <a:ext cx="54864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822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Sensor simulation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4078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Simulated LIDAR / proximity sensors return distance to nearest obstacle.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22960"/>
            <a:ext cx="4023360" cy="438912"/>
          </a:xfrm>
          <a:prstGeom prst="rect">
            <a:avLst/>
          </a:prstGeom>
          <a:solidFill>
            <a:srgbClr val="1A3F73"/>
          </a:solidFill>
          <a:ln w="12700">
            <a:solidFill>
              <a:srgbClr val="1A3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822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Avoidance Strategies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1389888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408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Static obstacle mapping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Pre-loaded obstacles marked on grid; planner routes around at planning time.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194560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212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Dynamic re-routing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47488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Path recalculated when new obstacles appear mid-navigation.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2999232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Potential field method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47488" y="3273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Obstacles create repulsive fields; goal creates attractive force on the robot.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3803904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3822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RL-based avoidance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47488" y="4078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Agent learns avoidance behaviour through reward/penalty feedback over episodes.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 for Decision Making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55448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Environment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</a:rPr>
              <a:t>Grid world / physics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225296"/>
            <a:ext cx="16459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914400"/>
            <a:ext cx="155448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84832" y="1298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</a:rPr>
              <a:t>Robot pos, obstacles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39312" y="1225296"/>
            <a:ext cx="16459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03904" y="914400"/>
            <a:ext cx="1554480" cy="777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3904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03904" y="1298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</a:rPr>
              <a:t>RL policy network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58384" y="1225296"/>
            <a:ext cx="16459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22976" y="914400"/>
            <a:ext cx="155448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22976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22976" y="1298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</a:rPr>
              <a:t>Move / rotate / stop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77456" y="1225296"/>
            <a:ext cx="16459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42048" y="914400"/>
            <a:ext cx="155448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42048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Reward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42048" y="1298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</a:rPr>
              <a:t>+1 goal, -1 collision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1874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490"/>
                </a:solidFill>
              </a:rPr>
              <a:t>↻  Feedback loop: reward signal updates policy via Q-learning / Deep Q-Network (DQN)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377440"/>
            <a:ext cx="18288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Q-Learning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27797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Off-policy TD algorithm. Learns Q(s,a) = expected future reward for action a in state 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377440"/>
            <a:ext cx="18288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Reward shaping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7797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+10 goal reached  ·  −10 collision  ·  −0.1 per step (encourages shorter paths).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520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520440"/>
            <a:ext cx="18288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Exploration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9227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ε-greedy policy: explore randomly with probability ε, exploit best known action otherwise.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520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520440"/>
            <a:ext cx="18288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Convergence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39227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After sufficient episodes, agent learns optimal policy for static and dynamic environments.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Environment &amp; Visualisation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389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389120" cy="402336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Grid simulation (PyGame)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35331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5331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35331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135331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35331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135331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35331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35331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35331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353312"/>
            <a:ext cx="301752" cy="301752"/>
          </a:xfrm>
          <a:prstGeom prst="rect">
            <a:avLst/>
          </a:prstGeom>
          <a:solidFill>
            <a:srgbClr val="10B98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6733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6733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16733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08760" y="167335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16733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16733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16733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1673352"/>
            <a:ext cx="301752" cy="301752"/>
          </a:xfrm>
          <a:prstGeom prst="rect">
            <a:avLst/>
          </a:prstGeom>
          <a:solidFill>
            <a:srgbClr val="1A3F7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16733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16733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19933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1993392"/>
            <a:ext cx="301752" cy="301752"/>
          </a:xfrm>
          <a:prstGeom prst="rect">
            <a:avLst/>
          </a:prstGeom>
          <a:solidFill>
            <a:srgbClr val="1A3F7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1993392"/>
            <a:ext cx="301752" cy="301752"/>
          </a:xfrm>
          <a:prstGeom prst="rect">
            <a:avLst/>
          </a:prstGeom>
          <a:solidFill>
            <a:srgbClr val="1A3F7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08760" y="199339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0" y="19933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19933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19933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8920" y="1993392"/>
            <a:ext cx="301752" cy="301752"/>
          </a:xfrm>
          <a:prstGeom prst="rect">
            <a:avLst/>
          </a:prstGeom>
          <a:solidFill>
            <a:srgbClr val="1A3F7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08960" y="19933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29000" y="19933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23134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2313432"/>
            <a:ext cx="301752" cy="301752"/>
          </a:xfrm>
          <a:prstGeom prst="rect">
            <a:avLst/>
          </a:prstGeom>
          <a:solidFill>
            <a:srgbClr val="1A3F7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23134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08760" y="231343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23134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48840" y="23134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68880" y="23134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88920" y="23134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08960" y="23134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29000" y="23134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263347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" y="263347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8720" y="263347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08760" y="263347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28800" y="2633472"/>
            <a:ext cx="301752" cy="301752"/>
          </a:xfrm>
          <a:prstGeom prst="rect">
            <a:avLst/>
          </a:prstGeom>
          <a:solidFill>
            <a:srgbClr val="1A3F7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48840" y="263347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68880" y="263347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88920" y="263347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08960" y="263347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29000" y="263347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295351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8680" y="295351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88720" y="295351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08760" y="295351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28800" y="2953512"/>
            <a:ext cx="301752" cy="301752"/>
          </a:xfrm>
          <a:prstGeom prst="rect">
            <a:avLst/>
          </a:prstGeom>
          <a:solidFill>
            <a:srgbClr val="1A3F7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48840" y="295351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468880" y="295351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88920" y="295351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08960" y="295351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29000" y="295351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640" y="32735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" y="32735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88720" y="32735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08760" y="327355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828800" y="3273552"/>
            <a:ext cx="301752" cy="301752"/>
          </a:xfrm>
          <a:prstGeom prst="rect">
            <a:avLst/>
          </a:prstGeom>
          <a:solidFill>
            <a:srgbClr val="1A3F7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48840" y="32735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68880" y="32735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88920" y="32735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08960" y="32735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29000" y="327355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640" y="35935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8680" y="35935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88720" y="35935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508760" y="359359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28800" y="35935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148840" y="3593592"/>
            <a:ext cx="301752" cy="301752"/>
          </a:xfrm>
          <a:prstGeom prst="rect">
            <a:avLst/>
          </a:prstGeom>
          <a:solidFill>
            <a:srgbClr val="1A3F7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468880" y="3593592"/>
            <a:ext cx="301752" cy="301752"/>
          </a:xfrm>
          <a:prstGeom prst="rect">
            <a:avLst/>
          </a:prstGeom>
          <a:solidFill>
            <a:srgbClr val="1A3F7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88920" y="35935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08960" y="35935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429000" y="359359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" y="3913632"/>
            <a:ext cx="301752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68680" y="391363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88720" y="3913632"/>
            <a:ext cx="301752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508760" y="39136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828800" y="39136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148840" y="39136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468880" y="39136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88920" y="39136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08960" y="39136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29000" y="3913632"/>
            <a:ext cx="30175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8640" y="4389120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86384" y="43891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</a:rPr>
              <a:t>Start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1600200" y="438912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837944" y="43891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</a:rPr>
              <a:t>Goal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2651760" y="4389120"/>
            <a:ext cx="201168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889504" y="43891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</a:rPr>
              <a:t>Path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3703320" y="4389120"/>
            <a:ext cx="201168" cy="201168"/>
          </a:xfrm>
          <a:prstGeom prst="rect">
            <a:avLst/>
          </a:prstGeom>
          <a:solidFill>
            <a:srgbClr val="1A3F73"/>
          </a:solidFill>
          <a:ln w="12700">
            <a:solidFill>
              <a:srgbClr val="1A3F7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941064" y="43891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</a:rPr>
              <a:t>Obstacle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5074920" y="822960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5074920" y="822960"/>
            <a:ext cx="3749040" cy="402336"/>
          </a:xfrm>
          <a:prstGeom prst="rect">
            <a:avLst/>
          </a:prstGeom>
          <a:solidFill>
            <a:srgbClr val="1A3F73"/>
          </a:solidFill>
          <a:ln w="12700">
            <a:solidFill>
              <a:srgbClr val="1A3F7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074920" y="8229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Tools &amp; Features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5166360" y="1444752"/>
            <a:ext cx="274320" cy="274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532120" y="13898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55"/>
                </a:solidFill>
              </a:rPr>
              <a:t>PyGame renderer</a:t>
            </a:r>
            <a:endParaRPr lang="en-US" sz="1150" dirty="0"/>
          </a:p>
        </p:txBody>
      </p:sp>
      <p:sp>
        <p:nvSpPr>
          <p:cNvPr id="111" name="Text 109"/>
          <p:cNvSpPr/>
          <p:nvPr/>
        </p:nvSpPr>
        <p:spPr>
          <a:xfrm>
            <a:off x="5532120" y="16276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Real-time grid display, robot movement, path overlay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5166360" y="2103120"/>
            <a:ext cx="274320" cy="274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532120" y="20482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55"/>
                </a:solidFill>
              </a:rPr>
              <a:t>NumPy grid</a:t>
            </a:r>
            <a:endParaRPr lang="en-US" sz="1150" dirty="0"/>
          </a:p>
        </p:txBody>
      </p:sp>
      <p:sp>
        <p:nvSpPr>
          <p:cNvPr id="114" name="Text 112"/>
          <p:cNvSpPr/>
          <p:nvPr/>
        </p:nvSpPr>
        <p:spPr>
          <a:xfrm>
            <a:off x="5532120" y="22860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Efficient occupancy matrix for obstacle and path data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5166360" y="2761488"/>
            <a:ext cx="274320" cy="274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532120" y="2706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55"/>
                </a:solidFill>
              </a:rPr>
              <a:t>Multiple scenarios</a:t>
            </a:r>
            <a:endParaRPr lang="en-US" sz="1150" dirty="0"/>
          </a:p>
        </p:txBody>
      </p:sp>
      <p:sp>
        <p:nvSpPr>
          <p:cNvPr id="117" name="Text 115"/>
          <p:cNvSpPr/>
          <p:nvPr/>
        </p:nvSpPr>
        <p:spPr>
          <a:xfrm>
            <a:off x="5532120" y="29443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Open field, maze, dynamic obstacles, crowded space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5166360" y="3419856"/>
            <a:ext cx="274320" cy="274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532120" y="33649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55"/>
                </a:solidFill>
              </a:rPr>
              <a:t>Algorithm selector</a:t>
            </a:r>
            <a:endParaRPr lang="en-US" sz="1150" dirty="0"/>
          </a:p>
        </p:txBody>
      </p:sp>
      <p:sp>
        <p:nvSpPr>
          <p:cNvPr id="120" name="Text 118"/>
          <p:cNvSpPr/>
          <p:nvPr/>
        </p:nvSpPr>
        <p:spPr>
          <a:xfrm>
            <a:off x="5532120" y="360273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Switch between A*, Dijkstra, RRT at runtime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5166360" y="4078224"/>
            <a:ext cx="274320" cy="274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532120" y="40233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55"/>
                </a:solidFill>
              </a:rPr>
              <a:t>Performance HUD</a:t>
            </a:r>
            <a:endParaRPr lang="en-US" sz="1150" dirty="0"/>
          </a:p>
        </p:txBody>
      </p:sp>
      <p:sp>
        <p:nvSpPr>
          <p:cNvPr id="123" name="Text 121"/>
          <p:cNvSpPr/>
          <p:nvPr/>
        </p:nvSpPr>
        <p:spPr>
          <a:xfrm>
            <a:off x="5532120" y="42611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Path length, steps, time elapsed shown on screen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&amp; Deliverables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920240" cy="12344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Path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Length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</a:rPr>
              <a:t>nodes traversed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1920240" cy="1234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Execution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6888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</a:rPr>
              <a:t>milliseconds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1920240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Collision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</a:rPr>
              <a:t>% avoidance success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868680"/>
            <a:ext cx="1920240" cy="1234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Episodes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to Learn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</a:rPr>
              <a:t>RL convergence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</a:rPr>
              <a:t>Algorithm Comparison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33472"/>
          <a:ext cx="841248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(admissible 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grid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graphs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for high-D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B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obstacles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8828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Autonomous Navigation System  ·  ADIT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74320"/>
            <a:ext cx="3474720" cy="3474720"/>
          </a:xfrm>
          <a:prstGeom prst="ellipse">
            <a:avLst/>
          </a:prstGeom>
          <a:solidFill>
            <a:srgbClr val="1A3F73"/>
          </a:solidFill>
          <a:ln w="12700">
            <a:solidFill>
              <a:srgbClr val="1A3F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731520"/>
            <a:ext cx="2560320" cy="2560320"/>
          </a:xfrm>
          <a:prstGeom prst="ellipse">
            <a:avLst/>
          </a:prstGeom>
          <a:solidFill>
            <a:srgbClr val="0E7490">
              <a:alpha val="25000"/>
            </a:srgbClr>
          </a:solidFill>
          <a:ln w="12700">
            <a:solidFill>
              <a:srgbClr val="0EA5C7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286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37642"/>
            <a:ext cx="5029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A5C7"/>
                </a:solidFill>
              </a:rPr>
              <a:t>Project: </a:t>
            </a:r>
            <a:r>
              <a:rPr lang="en-US" sz="1200" b="1" dirty="0">
                <a:solidFill>
                  <a:srgbClr val="FFFFFF"/>
                </a:solidFill>
              </a:rPr>
              <a:t>Autonomous Navigation System
</a:t>
            </a:r>
            <a:r>
              <a:rPr lang="en-US" sz="1200" dirty="0">
                <a:solidFill>
                  <a:srgbClr val="0EA5C7"/>
                </a:solidFill>
              </a:rPr>
              <a:t>Course: </a:t>
            </a:r>
            <a:r>
              <a:rPr lang="en-US" sz="1200" dirty="0">
                <a:solidFill>
                  <a:srgbClr val="FFFFFF"/>
                </a:solidFill>
              </a:rPr>
              <a:t>Programming with Python (202044504)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73752"/>
            <a:ext cx="9144000" cy="196596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814</Words>
  <Application>Microsoft Office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Navigation System</dc:title>
  <dc:subject>PptxGenJS Presentation</dc:subject>
  <dc:creator>PptxGenJS</dc:creator>
  <cp:lastModifiedBy>Nataansh Kayasth</cp:lastModifiedBy>
  <cp:revision>8</cp:revision>
  <dcterms:created xsi:type="dcterms:W3CDTF">2026-04-01T04:56:02Z</dcterms:created>
  <dcterms:modified xsi:type="dcterms:W3CDTF">2026-04-01T16:23:26Z</dcterms:modified>
</cp:coreProperties>
</file>